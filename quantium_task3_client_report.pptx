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Category Strategy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Insights, Trial Store Results &amp; Recommendations for the Next Half-Year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Julia, Category Manager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Bilal Ahmad  |  Quantium Retail Analytics  |  27 July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822960" cy="54864"/>
          </a:xfrm>
          <a:prstGeom prst="rect">
            <a:avLst/>
          </a:prstGeom>
          <a:solidFill>
            <a:srgbClr val="DD845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moves to grow the chip category this half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family segments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&amp; Young Families spend the most per customer ($36 &amp; $34). Prioritise family-size packs and bundles.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1772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beyond 3 brands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4290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Kettle, Doritos &amp; Smiths drive ~44% of sales. Grow mid-tier brands to reduce concentration risk.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1248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the trial layout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4290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 trial delivered a statistically significant sales lift in 2 of 3 stores — expand it further.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  · 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are the highest-value customers</a:t>
            </a:r>
            <a:endParaRPr lang="en-US" sz="2800" dirty="0"/>
          </a:p>
        </p:txBody>
      </p:sp>
      <p:pic>
        <p:nvPicPr>
          <p:cNvPr id="4" name="Image 0" descr="/mnt/user-data/upload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3904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00200"/>
            <a:ext cx="2926080" cy="3904488"/>
          </a:xfrm>
          <a:prstGeom prst="roundRect">
            <a:avLst>
              <a:gd name="adj" fmla="val 25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$36.04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915400" y="2377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Families — avg. sales per customer, the highest of any segment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540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$34.45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915400" y="3977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Families — 2nd highest, despite a smaller population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15400" y="5029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are highest among Older Singles/Couples &amp; Retirees — but that reflects population size, not spend per person.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  · 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concentrated in three brands</a:t>
            </a:r>
            <a:endParaRPr lang="en-US" sz="2800" dirty="0"/>
          </a:p>
        </p:txBody>
      </p:sp>
      <p:pic>
        <p:nvPicPr>
          <p:cNvPr id="4" name="Image 0" descr="/mnt/user-data/uploads/download__2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3904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00200"/>
            <a:ext cx="2926080" cy="3904488"/>
          </a:xfrm>
          <a:prstGeom prst="roundRect">
            <a:avLst>
              <a:gd name="adj" fmla="val 25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915400" y="2514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sales comes from just Kettle, Doritos &amp; Smiths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35661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a disruption to any one of these brands (supply, pricing, quality) could materially impact overall revenue.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5400" y="51206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grow shelf space &amp; promotions for mid-tier brands (Infuzions, RRD, Thins, Twisties).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  · 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is broad-based — there's no VIP tier yet</a:t>
            </a:r>
            <a:endParaRPr lang="en-US" sz="2800" dirty="0"/>
          </a:p>
        </p:txBody>
      </p:sp>
      <p:pic>
        <p:nvPicPr>
          <p:cNvPr id="4" name="Image 0" descr="/mnt/user-data/uploads/download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3904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00200"/>
            <a:ext cx="2926080" cy="3904488"/>
          </a:xfrm>
          <a:prstGeom prst="roundRect">
            <a:avLst>
              <a:gd name="adj" fmla="val 25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44.3%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915400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sales comes from the top 20% of customers (not 80%, as the classic rule assumes)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5400" y="37490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introduce a loyalty / VIP tier program to retain top spenders and motivate regular customers to spend more.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  ·  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shoppers are a core, price-sensitive base</a:t>
            </a:r>
            <a:endParaRPr lang="en-US" sz="2800" dirty="0"/>
          </a:p>
        </p:txBody>
      </p:sp>
      <p:pic>
        <p:nvPicPr>
          <p:cNvPr id="4" name="Image 0" descr="/mnt/user-data/uploads/download__3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54480"/>
            <a:ext cx="3931920" cy="3904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600200"/>
            <a:ext cx="5760720" cy="3904488"/>
          </a:xfrm>
          <a:prstGeom prst="roundRect">
            <a:avLst>
              <a:gd name="adj" fmla="val 1874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23774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share; values convenience and brand recognition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36118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Appears in 3 of the top 5 lifestage segments — strong, consistent demand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0" y="4389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48463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share; more selective, likely values quality/health positioning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TRIAL RESULTS  · 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 new store layout in 3 trial stores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trial store (77, 86, 88) was matched to a statistically similar control store, based on pre-trial sales and customer trends. During the trial period (Feb–Apr 2019), we compared trial performance against the scaled control to test for a genuine, significant sales lift.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108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4069080"/>
            <a:ext cx="2834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Store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5262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2628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108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86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4069080"/>
            <a:ext cx="2834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45262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0" y="2880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108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88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4069080"/>
            <a:ext cx="2834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Store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5262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TRIAL RESULTS  ·  STORE 77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statistically significant sales lift</a:t>
            </a:r>
            <a:endParaRPr lang="en-US" sz="2800" dirty="0"/>
          </a:p>
        </p:txBody>
      </p:sp>
      <p:pic>
        <p:nvPicPr>
          <p:cNvPr id="4" name="Image 0" descr="/mnt/user-data/uploads/download__5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3904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00200"/>
            <a:ext cx="2926080" cy="3904488"/>
          </a:xfrm>
          <a:prstGeom prst="roundRect">
            <a:avLst>
              <a:gd name="adj" fmla="val 2500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15400" y="2377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exceeded the control store's expected range in 2 of 3 trial months.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35661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and April both showed strong uplift, driven mainly by higher customer traffic rather than bigger baskets.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TRIAL RESULTS  ·  STORE 86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customers, but not enough to lift sales</a:t>
            </a:r>
            <a:endParaRPr lang="en-US" sz="2800" dirty="0"/>
          </a:p>
        </p:txBody>
      </p:sp>
      <p:pic>
        <p:nvPicPr>
          <p:cNvPr id="4" name="Image 0" descr="/mnt/user-data/uploads/download__6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623560" cy="3044952"/>
          </a:xfrm>
          <a:prstGeom prst="rect">
            <a:avLst/>
          </a:prstGeom>
        </p:spPr>
      </p:pic>
      <p:pic>
        <p:nvPicPr>
          <p:cNvPr id="5" name="Image 1" descr="/mnt/user-data/uploads/download__7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5623560" cy="30449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 ON SALES  —  BUT CUSTOMER GROWTH IS THE CLOSEST RESULT OF THE THREE STORES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counts were consistently higher during the trial, but sales didn't follow — worth checking with the Category Manager whether Store 86's trial used different pricing or promotions than the others.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TRIAL RESULTS  ·  STORE 88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statistically significant sales lift</a:t>
            </a:r>
            <a:endParaRPr lang="en-US" sz="2800" dirty="0"/>
          </a:p>
        </p:txBody>
      </p:sp>
      <p:pic>
        <p:nvPicPr>
          <p:cNvPr id="4" name="Image 0" descr="/mnt/user-data/uploads/download__8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623560" cy="3044952"/>
          </a:xfrm>
          <a:prstGeom prst="rect">
            <a:avLst/>
          </a:prstGeom>
        </p:spPr>
      </p:pic>
      <p:pic>
        <p:nvPicPr>
          <p:cNvPr id="5" name="Image 1" descr="/mnt/user-data/uploads/download__9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5623560" cy="30449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Store 77, Store 88's sales moved outside the control store's expected range in 2 of 3 trial months — a genuine, not just seasonal, effect of the new layout.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for the half-year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the trial layout further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664208"/>
            <a:ext cx="7086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77 and 88 showed a significant, genuine sales lift — expand the layout change to more stores with similar profiles.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Store 86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560320"/>
            <a:ext cx="7086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traffic rose but sales didn't — check with the Category Manager if pricing or promotions differed there before rolling 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4564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family segments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3456432"/>
            <a:ext cx="7086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family-size packs and bundle offers around Older &amp; Young Families, the highest per-customer spenders.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3525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brand support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4352544"/>
            <a:ext cx="7086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mid-tier brands alongside Kettle, Doritos &amp; Smiths to reduce reliance on just three brands.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2486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loyalty tier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5248656"/>
            <a:ext cx="7086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is broad-based with no natural VIP segment — a tier program can retain and grow top spenders.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Quantium  |  Chip Category Strategy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walk through any of these findings in more detail before the client presentation.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Bilal Ahmad  |  Quantium Retail Analytics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822960" cy="54864"/>
          </a:xfrm>
          <a:prstGeom prst="rect">
            <a:avLst/>
          </a:prstGeom>
          <a:solidFill>
            <a:srgbClr val="DD845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2026-07-27T09:45:28Z</dcterms:created>
  <dcterms:modified xsi:type="dcterms:W3CDTF">2026-07-27T09:45:28Z</dcterms:modified>
</cp:coreProperties>
</file>